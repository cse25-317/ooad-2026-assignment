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8" r:id="rId4"/>
    <p:sldId id="259" r:id="rId5"/>
    <p:sldId id="260" r:id="rId6"/>
    <p:sldId id="262" r:id="rId7"/>
    <p:sldId id="263" r:id="rId8"/>
    <p:sldId id="266" r:id="rId9"/>
    <p:sldId id="265" r:id="rId10"/>
    <p:sldId id="264" r:id="rId11"/>
  </p:sldIdLst>
  <p:sldSz cx="12192000" cy="6858000"/>
  <p:notesSz cx="6858000" cy="9144000"/>
  <p:defaultTextStyle>
    <a:defPPr>
      <a:defRPr lang="en-B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B347E-87B8-4E9C-B3F6-0A0B0CBE5CD7}" v="2" dt="2026-10-16T14:41:44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atile Lana Lejage" userId="a160e9d5-85cb-4a81-b962-367201edb505" providerId="ADAL" clId="{6CBF6A8A-7938-45BA-B545-BA55D6DDC7C7}"/>
    <pc:docChg chg="modSld sldOrd">
      <pc:chgData name="Oratile Lana Lejage" userId="a160e9d5-85cb-4a81-b962-367201edb505" providerId="ADAL" clId="{6CBF6A8A-7938-45BA-B545-BA55D6DDC7C7}" dt="2026-10-16T14:41:44.218" v="4"/>
      <pc:docMkLst>
        <pc:docMk/>
      </pc:docMkLst>
      <pc:sldChg chg="ord">
        <pc:chgData name="Oratile Lana Lejage" userId="a160e9d5-85cb-4a81-b962-367201edb505" providerId="ADAL" clId="{6CBF6A8A-7938-45BA-B545-BA55D6DDC7C7}" dt="2026-10-16T14:28:09.257" v="3"/>
        <pc:sldMkLst>
          <pc:docMk/>
          <pc:sldMk cId="1629686749" sldId="258"/>
        </pc:sldMkLst>
      </pc:sldChg>
      <pc:sldChg chg="modSp">
        <pc:chgData name="Oratile Lana Lejage" userId="a160e9d5-85cb-4a81-b962-367201edb505" providerId="ADAL" clId="{6CBF6A8A-7938-45BA-B545-BA55D6DDC7C7}" dt="2026-10-16T13:23:35.921" v="0"/>
        <pc:sldMkLst>
          <pc:docMk/>
          <pc:sldMk cId="1526352804" sldId="259"/>
        </pc:sldMkLst>
        <pc:spChg chg="mod">
          <ac:chgData name="Oratile Lana Lejage" userId="a160e9d5-85cb-4a81-b962-367201edb505" providerId="ADAL" clId="{6CBF6A8A-7938-45BA-B545-BA55D6DDC7C7}" dt="2026-10-16T13:23:35.921" v="0"/>
          <ac:spMkLst>
            <pc:docMk/>
            <pc:sldMk cId="1526352804" sldId="259"/>
            <ac:spMk id="4" creationId="{87A4C0FD-47A5-92FF-811D-57F7625772A6}"/>
          </ac:spMkLst>
        </pc:spChg>
      </pc:sldChg>
      <pc:sldChg chg="ord">
        <pc:chgData name="Oratile Lana Lejage" userId="a160e9d5-85cb-4a81-b962-367201edb505" providerId="ADAL" clId="{6CBF6A8A-7938-45BA-B545-BA55D6DDC7C7}" dt="2026-10-16T14:01:48.110" v="1"/>
        <pc:sldMkLst>
          <pc:docMk/>
          <pc:sldMk cId="334516843" sldId="264"/>
        </pc:sldMkLst>
      </pc:sldChg>
      <pc:sldChg chg="ord">
        <pc:chgData name="Oratile Lana Lejage" userId="a160e9d5-85cb-4a81-b962-367201edb505" providerId="ADAL" clId="{6CBF6A8A-7938-45BA-B545-BA55D6DDC7C7}" dt="2026-10-16T14:09:22.428" v="2"/>
        <pc:sldMkLst>
          <pc:docMk/>
          <pc:sldMk cId="2108250368" sldId="265"/>
        </pc:sldMkLst>
      </pc:sldChg>
      <pc:sldChg chg="modSp">
        <pc:chgData name="Oratile Lana Lejage" userId="a160e9d5-85cb-4a81-b962-367201edb505" providerId="ADAL" clId="{6CBF6A8A-7938-45BA-B545-BA55D6DDC7C7}" dt="2026-10-16T14:41:44.218" v="4"/>
        <pc:sldMkLst>
          <pc:docMk/>
          <pc:sldMk cId="3228401188" sldId="267"/>
        </pc:sldMkLst>
        <pc:spChg chg="mod">
          <ac:chgData name="Oratile Lana Lejage" userId="a160e9d5-85cb-4a81-b962-367201edb505" providerId="ADAL" clId="{6CBF6A8A-7938-45BA-B545-BA55D6DDC7C7}" dt="2026-10-16T14:41:44.218" v="4"/>
          <ac:spMkLst>
            <pc:docMk/>
            <pc:sldMk cId="3228401188" sldId="267"/>
            <ac:spMk id="3" creationId="{702B806F-C959-963F-8E57-56C0EDD687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DD8CC-39FB-42E4-BAF6-C47EDADBF5AE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7753F-531C-4394-9E95-62529C5AD03E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16234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753F-531C-4394-9E95-62529C5AD03E}" type="slidenum">
              <a:rPr lang="en-BW" smtClean="0"/>
              <a:t>4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381210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22E0-5979-6BAA-F773-B004E76E5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8E68C-85F3-1643-99AF-E6FFCF1D3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44985-E10E-5877-2D37-938C279C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1008B-1D85-0DEC-3A81-E30FCF39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AAC6E-2CDB-2943-096A-29F88B2B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359949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5B7E-05E9-C485-06BC-E1FFA586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CC1DD-66A9-9A10-4F98-FC4383A25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E729-94A6-6288-55F8-C7BDA79E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8C876-020E-9B6C-940B-0D3A456E0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D22BB-8081-7270-E72A-6200E313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1774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9A72-5CC1-8E11-8878-28F878EF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77100-4B71-CBCA-CA24-607609A93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9A007-A9BE-6996-D68A-DAE57894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E0C87-28C2-D240-268D-86E80A8B0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0431-054D-45C5-E3C7-86336545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72257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C2B6-B4BE-1A93-3833-274A4D49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D6195-8CBB-E3F5-6D88-5650D9547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96F03-041B-869D-F4FE-8E4B4AF8A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734A1-777D-008E-7E44-99D4E60F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E2886-9011-BFF6-9B7B-378F4983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DB34A-210F-8DFC-AE7B-03A726D3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419125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D919-8AE6-FB3C-22CA-B489F701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24DC-5D9D-B4AC-B819-0AEDE0F10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9C043-26C8-D6B0-5EB6-453BDE5F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61B6C-0921-F364-3792-C2B970B82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C447E-95E9-5A5E-273A-770438F42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9863E-823C-D448-8061-70A57C74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B2DB34-3B9A-4B05-FC04-D2B878F4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96F8C4-EEC2-99FC-699B-B617CC33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41844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FB35-E334-EC1B-5E50-2D7F5087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9EF69-FC50-5F31-94EC-C05F8A1A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27BE8-A0AC-C802-204F-78755524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E113B-8418-261D-A9B5-AF2EBD07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06210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6757A-715C-F1ED-5439-915A208A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58FC5-35D9-4AF9-9626-CFAFEC97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781CB-70C1-8A9D-5E32-32D617D8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80664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F357-AD76-5462-67E2-E9C24D7A2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B9DF4-6438-6238-DA2D-837BD7833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82787-121D-376B-74EC-8738AB9C5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D99FA-7DF1-D748-91BB-A7514CD1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83D2B-4F5B-1A0B-A5FA-0B8165CE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37017-A79C-EBB3-E079-8A71ED4C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61933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FCEE-D351-1A09-ECA9-228960AA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8EC8F-678E-CD9B-6E0E-59510FF262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E1BA5-ABDD-98F6-7E2F-03773AB2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E3752-323F-93D2-BCAA-7A93C0C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6732D-4EB6-E021-AF3B-15041A31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F2491-A229-827E-814B-C74D69F1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6387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7360-EC19-15D9-C091-D4434DBD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3D429-71FB-A5C1-17FF-E1917BC9F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52DF8-AA9B-0C8A-96AA-F40DCADDA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6B77F-BD4B-917E-12BA-8D3A0704E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2CF0B-4423-DCC2-6DEF-1E549014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78549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30463-EB80-B84F-E985-81A463A82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88E00-D0DD-6CD6-642C-5648B6CCC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CE65D-D44C-1B36-D106-9999A3A9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2E37-4533-F790-6042-C7A05ECC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6416E-55EC-B48C-576B-BDA9DAB9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84540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F645E-0F8B-DD10-2BFA-C1031EA2F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40B1C-8A12-47D8-42BD-D8A6D89DF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33B60-E6B8-26F4-B699-8EC53A597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1B1F6-2673-4FAD-8133-DD8084C27339}" type="datetimeFigureOut">
              <a:rPr lang="en-BW" smtClean="0"/>
              <a:t>16/10/2026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5AEC7-FB42-B99E-64C2-D279C678B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F3F74-0883-C7C4-03F5-D99B16F74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4D944-D7C5-4EF3-A445-00A08725AB4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39997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643A7A97-2713-30DE-1F48-19C8D1B2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06" b="12406"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44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E8464F-F4E2-E258-0D60-ECFA88F56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rgbClr val="FFFFFF"/>
                </a:solidFill>
              </a:rPr>
              <a:t>THE BANKING SYSTEM</a:t>
            </a:r>
            <a:endParaRPr lang="en-BW" sz="7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BB83C-8B07-C207-63B7-4D9753558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REQUIREMENT ELICITATION</a:t>
            </a:r>
            <a:endParaRPr lang="en-B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76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40F46-E1EB-3DFD-C1F2-BCDDA5CE4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Git link</a:t>
            </a:r>
            <a:endParaRPr lang="en-BW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B806F-C959-963F-8E57-56C0EDD68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https://github.com/cse25-317/OOAD-2026-ASSIGNMENT</a:t>
            </a:r>
            <a:endParaRPr lang="en-BW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40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6654C-0FBE-80E2-317D-01CFE0C3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Functional requirement (what the system does)</a:t>
            </a:r>
            <a:br>
              <a:rPr lang="en-US" sz="4100">
                <a:solidFill>
                  <a:srgbClr val="FFFFFF"/>
                </a:solidFill>
              </a:rPr>
            </a:br>
            <a:r>
              <a:rPr lang="en-US" sz="4100">
                <a:solidFill>
                  <a:srgbClr val="FFFFFF"/>
                </a:solidFill>
              </a:rPr>
              <a:t>System shall must:</a:t>
            </a:r>
            <a:endParaRPr lang="en-BW" sz="4100">
              <a:solidFill>
                <a:srgbClr val="FFFFFF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8A4CF-5F27-74B4-43BC-BAD4BB0F5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rgbClr val="FFFFFF"/>
                </a:solidFill>
              </a:rPr>
              <a:t>Register a new customer with name, address and phone number</a:t>
            </a:r>
          </a:p>
          <a:p>
            <a:r>
              <a:rPr lang="en-US" sz="1500">
                <a:solidFill>
                  <a:srgbClr val="FFFFFF"/>
                </a:solidFill>
              </a:rPr>
              <a:t>Let a registered customer login with Customer ID AND PIN and shall reject invalid credentials</a:t>
            </a:r>
          </a:p>
          <a:p>
            <a:r>
              <a:rPr lang="en-US" sz="1500">
                <a:solidFill>
                  <a:srgbClr val="FFFFFF"/>
                </a:solidFill>
              </a:rPr>
              <a:t>Let a customer open a Savings, Investment and Cheque account</a:t>
            </a:r>
          </a:p>
          <a:p>
            <a:r>
              <a:rPr lang="en-US" sz="1500">
                <a:solidFill>
                  <a:srgbClr val="FFFFFF"/>
                </a:solidFill>
              </a:rPr>
              <a:t>Reject every withdrawal from a Savings account</a:t>
            </a:r>
          </a:p>
          <a:p>
            <a:r>
              <a:rPr lang="en-US" sz="1500">
                <a:solidFill>
                  <a:srgbClr val="FFFFFF"/>
                </a:solidFill>
              </a:rPr>
              <a:t>Let a customer have several accounts, in any combination of the 3 types</a:t>
            </a:r>
          </a:p>
          <a:p>
            <a:r>
              <a:rPr lang="en-US" sz="1500">
                <a:solidFill>
                  <a:srgbClr val="FFFFFF"/>
                </a:solidFill>
              </a:rPr>
              <a:t>Let a customer deposit any amount greater than zero into any account they hold</a:t>
            </a:r>
          </a:p>
          <a:p>
            <a:r>
              <a:rPr lang="en-US" sz="1500">
                <a:solidFill>
                  <a:srgbClr val="FFFFFF"/>
                </a:solidFill>
              </a:rPr>
              <a:t>Shall only open a Cheque account for an employed customer and shall record employers' home and address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4A718-FB88-3102-6F71-2541DAC7B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Let a customer withdraw funds from Investment and Cheque accounts and reject withdrawals that exceed the balance</a:t>
            </a:r>
          </a:p>
          <a:p>
            <a:r>
              <a:rPr lang="en-US" sz="1700">
                <a:solidFill>
                  <a:srgbClr val="FFFFFF"/>
                </a:solidFill>
              </a:rPr>
              <a:t>Pay monthly interest 0.05% for Savings account, and 5% for Investment account</a:t>
            </a:r>
          </a:p>
          <a:p>
            <a:r>
              <a:rPr lang="en-US" sz="1700">
                <a:solidFill>
                  <a:srgbClr val="FFFFFF"/>
                </a:solidFill>
              </a:rPr>
              <a:t>Record every deposit, withdrawal and interest payment as a transaction resulting balance and referencing  with date and amount</a:t>
            </a:r>
          </a:p>
          <a:p>
            <a:r>
              <a:rPr lang="en-US" sz="1700">
                <a:solidFill>
                  <a:srgbClr val="FFFFFF"/>
                </a:solidFill>
              </a:rPr>
              <a:t>Only open an Investment account when the opening deposit is at least P500.00</a:t>
            </a:r>
          </a:p>
          <a:p>
            <a:r>
              <a:rPr lang="en-US" sz="1700">
                <a:solidFill>
                  <a:srgbClr val="FFFFFF"/>
                </a:solidFill>
              </a:rPr>
              <a:t>Let a customer view the balance, and transaction history of each amount</a:t>
            </a:r>
          </a:p>
        </p:txBody>
      </p:sp>
    </p:spTree>
    <p:extLst>
      <p:ext uri="{BB962C8B-B14F-4D97-AF65-F5344CB8AC3E}">
        <p14:creationId xmlns:p14="http://schemas.microsoft.com/office/powerpoint/2010/main" val="1629686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939D7-D408-C97B-CF85-9EACBA90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Non-Functional Requirement</a:t>
            </a:r>
            <a:endParaRPr lang="en-BW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8FCC3-6BA1-30E2-31CE-81F9C0E0A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Security- Encrypt all data, give passwords and restrict to own accounts</a:t>
            </a:r>
          </a:p>
          <a:p>
            <a:r>
              <a:rPr lang="en-US" sz="1700">
                <a:solidFill>
                  <a:srgbClr val="FFFFFF"/>
                </a:solidFill>
              </a:rPr>
              <a:t>Accuracy- amounts should be in Botswana Pula currency to 2.d.p</a:t>
            </a:r>
          </a:p>
          <a:p>
            <a:r>
              <a:rPr lang="en-US" sz="1700">
                <a:solidFill>
                  <a:srgbClr val="FFFFFF"/>
                </a:solidFill>
              </a:rPr>
              <a:t>Performance- Responds within a couple of seconds</a:t>
            </a:r>
          </a:p>
          <a:p>
            <a:r>
              <a:rPr lang="en-US" sz="1700">
                <a:solidFill>
                  <a:srgbClr val="FFFFFF"/>
                </a:solidFill>
              </a:rPr>
              <a:t>Data Integrity-Balances stay accurate, transactions can't be half complete </a:t>
            </a:r>
          </a:p>
          <a:p>
            <a:r>
              <a:rPr lang="en-US" sz="1700">
                <a:solidFill>
                  <a:srgbClr val="FFFFFF"/>
                </a:solidFill>
              </a:rPr>
              <a:t>Usability- Simple screen, clear error message</a:t>
            </a:r>
          </a:p>
          <a:p>
            <a:r>
              <a:rPr lang="en-US" sz="1700">
                <a:solidFill>
                  <a:srgbClr val="FFFFFF"/>
                </a:solidFill>
              </a:rPr>
              <a:t>Reliability- Data persists after shutdown (should retain all account and transaction data after shutdown)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4C0FD-47A5-92FF-811D-57F762577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Authentication- a customer must log in with a username and password before using the account</a:t>
            </a:r>
          </a:p>
          <a:p>
            <a:r>
              <a:rPr lang="en-US" sz="1700">
                <a:solidFill>
                  <a:srgbClr val="FFFFFF"/>
                </a:solidFill>
              </a:rPr>
              <a:t>Authorization- a customer can only sec and transact on accounts they had never someone else's</a:t>
            </a:r>
          </a:p>
          <a:p>
            <a:r>
              <a:rPr lang="en-US" sz="1700">
                <a:solidFill>
                  <a:srgbClr val="FFFFFF"/>
                </a:solidFill>
              </a:rPr>
              <a:t>Lockout/limits-  Repeated failed logins are blocked or delayed </a:t>
            </a:r>
          </a:p>
          <a:p>
            <a:r>
              <a:rPr lang="en-US" sz="1700">
                <a:solidFill>
                  <a:srgbClr val="FFFFFF"/>
                </a:solidFill>
              </a:rPr>
              <a:t>Encapsulation- account is private, changed through methods (deposits(), withdraw())</a:t>
            </a:r>
          </a:p>
          <a:p>
            <a:r>
              <a:rPr lang="en-US" sz="1700">
                <a:solidFill>
                  <a:srgbClr val="FFFFFF"/>
                </a:solidFill>
              </a:rPr>
              <a:t>Maintainability- Layered design(a new account type shall be addable by creating one new subclass of account without modifying existing account classes)</a:t>
            </a:r>
            <a:endParaRPr lang="en-BW" sz="1700">
              <a:solidFill>
                <a:srgbClr val="FFFFFF"/>
              </a:solidFill>
            </a:endParaRPr>
          </a:p>
          <a:p>
            <a:endParaRPr lang="en-BW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35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11739-67B8-E43F-D418-3C059C425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Interview Questions And Answers</a:t>
            </a:r>
            <a:endParaRPr lang="en-BW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D98E6-03B3-ADC1-D22D-93DC1218D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Who will use the system?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What details do you need for each customer?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Can one customer have more than one account?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What are the rules for each account type?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When and how should interest be paid?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Should customers log-in, and how?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What should happen if someone tries to withdraw more than they have?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What records of transactions do you need to keep?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Apart from the features, what matters most to you: Security, Speed, Accuracy and ease of use?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>
                <a:solidFill>
                  <a:srgbClr val="FFFFFF"/>
                </a:solidFill>
              </a:rPr>
              <a:t>Is there anything you don’t want in this first version, such as transfers, overdrafts and closing accounts?</a:t>
            </a:r>
          </a:p>
          <a:p>
            <a:pPr marL="514350" indent="-514350">
              <a:buFont typeface="+mj-lt"/>
              <a:buAutoNum type="arabicPeriod"/>
            </a:pP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C63E9-BCAE-F4EC-7729-BB18FE7C8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ANSWERS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Customers: As individuals, companies, institutions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Name, phone number and address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Yes, they can have a savings, investment and cheque accounts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Savings: Deposit, no withdrawals and 0.05% monthly interest; Cheque: Deposit, withdrawals, no limit, no interest(for employed customers); Investment: Deposit, withdrawals, no limit, 5% monthly interest, opens only with P500.00 or more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Once a month, automatically and must appear in the accounts transaction history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Yes, with customer ID and PIN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System must refuse and leave the balance unchanged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Deposits, withdrawals, monthly interests and loans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Security, speed, accuracy and ease of use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100">
                <a:solidFill>
                  <a:srgbClr val="FFFFFF"/>
                </a:solidFill>
              </a:rPr>
              <a:t>Closing accounts, overdrafts and transfers</a:t>
            </a:r>
          </a:p>
        </p:txBody>
      </p:sp>
    </p:spTree>
    <p:extLst>
      <p:ext uri="{BB962C8B-B14F-4D97-AF65-F5344CB8AC3E}">
        <p14:creationId xmlns:p14="http://schemas.microsoft.com/office/powerpoint/2010/main" val="787166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9C12F-880D-6122-AC30-8B38F2EA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Structural UML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0472F9-7615-249D-1354-50E8F692A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9163" y="467208"/>
            <a:ext cx="671227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3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28DA2-E2ED-2F16-88C7-3290A642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E1C539-5CB1-CAEC-256C-79C68EB61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5475" y="169033"/>
            <a:ext cx="4676775" cy="638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3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8451E-CB6A-C08C-2E8C-EAEDCF19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LOG-IN 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DB82B3-F489-5B40-EEB6-A062EF672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8925" y="467208"/>
            <a:ext cx="521275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5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2F5AF-C2A0-8267-16F2-D216D426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Deposit Funds Sequence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6037C9-83A6-1CB1-BB50-CFE1D73F1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3431" y="467208"/>
            <a:ext cx="552374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D4C70-8552-07FB-1C9D-54E39791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Pay Interest State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83DD76-1CD4-CF17-45ED-C53299217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918052"/>
            <a:ext cx="7225748" cy="502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16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601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THE BANKING SYSTEM</vt:lpstr>
      <vt:lpstr>Git link</vt:lpstr>
      <vt:lpstr>Functional requirement (what the system does) System shall must:</vt:lpstr>
      <vt:lpstr>Non-Functional Requirement</vt:lpstr>
      <vt:lpstr>Interview Questions And Answers</vt:lpstr>
      <vt:lpstr>Structural UML Diagram</vt:lpstr>
      <vt:lpstr>Class Diagram</vt:lpstr>
      <vt:lpstr>LOG-IN Sequence Diagram</vt:lpstr>
      <vt:lpstr>Deposit Funds Sequence Diagram</vt:lpstr>
      <vt:lpstr>Pay Interest State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Oratile Lana Lejage</dc:creator>
  <cp:lastModifiedBy>Oratile Lana Lejage</cp:lastModifiedBy>
  <cp:revision>1</cp:revision>
  <dcterms:created xsi:type="dcterms:W3CDTF">2026-10-16T08:26:31Z</dcterms:created>
  <dcterms:modified xsi:type="dcterms:W3CDTF">2026-10-16T14:42:36Z</dcterms:modified>
</cp:coreProperties>
</file>